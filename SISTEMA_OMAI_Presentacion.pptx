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5400000">
            <a:off x="8534095" y="0"/>
            <a:ext cx="3657600" cy="3657600"/>
          </a:xfrm>
          <a:prstGeom prst="rtTriangle">
            <a:avLst/>
          </a:prstGeom>
          <a:solidFill>
            <a:srgbClr val="1E3E62"/>
          </a:solidFill>
          <a:ln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9448495" y="0"/>
            <a:ext cx="2743200" cy="2743200"/>
          </a:xfrm>
          <a:prstGeom prst="rtTriangle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SCUDOARMAD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65176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E0A96D"/>
                </a:solidFill>
                <a:latin typeface="Segoe UI"/>
              </a:defRPr>
            </a:pPr>
            <a:r>
              <a:t>SISTEMA OMAI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Segoe UI"/>
              </a:defRPr>
            </a:pPr>
            <a:r>
              <a:t>Plataforma de Mando, Control y Gestión Operacional para Patrullajes Terrestres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7315200" cy="36576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E0A96D"/>
                </a:solidFill>
                <a:latin typeface="Segoe UI"/>
              </a:defRPr>
            </a:pPr>
            <a:r>
              <a:t>ARMADA DEL ECUADOR - GRUPO DE TAREA 100.51</a:t>
            </a:r>
          </a:p>
          <a:p>
            <a:pPr>
              <a:defRPr sz="1200">
                <a:solidFill>
                  <a:srgbClr val="FFFFFF"/>
                </a:solidFill>
                <a:latin typeface="Segoe UI"/>
              </a:defRPr>
            </a:pPr>
            <a:r>
              <a:t>Autor: CPCB-SU Carlos Vallejo Ortega | Versión 2.0.0 (2026)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⚙️ ARQUITECTURA Y TECNOLOGÍA DEL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Servidor Local Robusto: </a:t>
            </a:r>
            <a:r>
              <a:rPr sz="1200">
                <a:solidFill>
                  <a:srgbClr val="1E293B"/>
                </a:solidFill>
                <a:latin typeface="Segoe UI"/>
              </a:rPr>
              <a:t>Empaquetado en un ejecutable local (SISTEMA_OMAI.exe) que expone la API en el puerto 3000, facilitando su ejecución offline.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Base de Datos SQLite: </a:t>
            </a:r>
            <a:r>
              <a:rPr sz="1200">
                <a:solidFill>
                  <a:srgbClr val="1E293B"/>
                </a:solidFill>
                <a:latin typeface="Segoe UI"/>
              </a:rPr>
              <a:t>Utiliza database.sqlite para un almacenamiento rápido, local y confiable, idóneo para despliegues aislados o móviles.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Conexión en Tiempo Real: </a:t>
            </a:r>
            <a:r>
              <a:rPr sz="1200">
                <a:solidFill>
                  <a:srgbClr val="1E293B"/>
                </a:solidFill>
                <a:latin typeface="Segoe UI"/>
              </a:rPr>
              <a:t>Implementa WebSockets (Socket.io) para sincronizar inmediatamente los cambios y logs entre múltiples dispositivos conectados.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Exportaciones Directas: </a:t>
            </a:r>
            <a:r>
              <a:rPr sz="1200">
                <a:solidFill>
                  <a:srgbClr val="1E293B"/>
                </a:solidFill>
                <a:latin typeface="Segoe UI"/>
              </a:rPr>
              <a:t>Integra librerías jsPDF y SheetJS para generar al instante hojas de cálculo Excel e informes oficiales listos para impresión.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Tecnología y Despliegue Local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1E3E62"/>
          </a:solidFill>
          <a:ln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0A96D"/>
                </a:solidFill>
                <a:latin typeface="Segoe UI"/>
              </a:defRPr>
            </a:pPr>
            <a:r>
              <a:t>MÓDULO DE PERSONAL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Segoe UI"/>
              </a:defRPr>
            </a:pPr>
            <a:r>
              <a:t>Administración de Fuerza, Guardias, Distribución Táctica y Estadísticas Dinámicas</a:t>
            </a:r>
          </a:p>
        </p:txBody>
      </p:sp>
    </p:spTree>
  </p:cSld>
  <p:transition spd="med">
    <p:push dir="l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👥 REGISTRO DE PERSONAL Y CARGA DE DOTACIÓN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Ficha de Personal Detallada: </a:t>
            </a:r>
            <a:r>
              <a:rPr sz="1200">
                <a:solidFill>
                  <a:srgbClr val="1E293B"/>
                </a:solidFill>
                <a:latin typeface="Segoe UI"/>
              </a:rPr>
              <a:t>Registra grado militar, especialidad, nombres completos, cédula, número de contacto, reparto de origen y rotación.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Carga Masiva desde Excel: </a:t>
            </a:r>
            <a:r>
              <a:rPr sz="1200">
                <a:solidFill>
                  <a:srgbClr val="1E293B"/>
                </a:solidFill>
                <a:latin typeface="Segoe UI"/>
              </a:rPr>
              <a:t>Importa listados completos con detección inteligente de columnas y guardias, reduciendo el trabajo manual.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Organización por Grupos: </a:t>
            </a:r>
            <a:r>
              <a:rPr sz="1200">
                <a:solidFill>
                  <a:srgbClr val="1E293B"/>
                </a:solidFill>
                <a:latin typeface="Segoe UI"/>
              </a:rPr>
              <a:t>Clasifica el personal por condición operacional (Operativo/Franco) y les asigna su respectivo grupo de destino (GT ECHO, CODESC, etc.).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Búsqueda en Tiempo Real: </a:t>
            </a:r>
            <a:r>
              <a:rPr sz="1200">
                <a:solidFill>
                  <a:srgbClr val="1E293B"/>
                </a:solidFill>
                <a:latin typeface="Segoe UI"/>
              </a:rPr>
              <a:t>Buscador integrado por nombre o cédula que filtra la base de datos de inmediato en la tabla interactiva.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registro_pers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Módulo de Personal - Registro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👥 PLANIFICACIÓN DE GUARDIAS Y TURNOS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División por Guardias: </a:t>
            </a:r>
            <a:r>
              <a:rPr sz="1200">
                <a:solidFill>
                  <a:srgbClr val="1E293B"/>
                </a:solidFill>
                <a:latin typeface="Segoe UI"/>
              </a:rPr>
              <a:t>Separa rápidamente a la dotación activa en dos grupos principales: Guardia de Babor y Guardia de Estribor.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Algoritmo de Turnos: </a:t>
            </a:r>
            <a:r>
              <a:rPr sz="1200">
                <a:solidFill>
                  <a:srgbClr val="1E293B"/>
                </a:solidFill>
                <a:latin typeface="Segoe UI"/>
              </a:rPr>
              <a:t>Distribuye automáticamente al personal en turnos rotativos tradicionales de guardia (T1, T2 y T3) de manera equilibrada.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Exportaciones Tácticas: </a:t>
            </a:r>
            <a:r>
              <a:rPr sz="1200">
                <a:solidFill>
                  <a:srgbClr val="1E293B"/>
                </a:solidFill>
                <a:latin typeface="Segoe UI"/>
              </a:rPr>
              <a:t>Botones dedicados para exportar el cuadro general de guardias a PDF estructurado u hojas de cálculo Excel.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Régimen 2x2 CODESC: </a:t>
            </a:r>
            <a:r>
              <a:rPr sz="1200">
                <a:solidFill>
                  <a:srgbClr val="1E293B"/>
                </a:solidFill>
                <a:latin typeface="Segoe UI"/>
              </a:rPr>
              <a:t>Aplica un régimen cíclico automatizado de 2 días de trabajo por 2 días de franco, recalculando la disponibilidad según fecha.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distribucion_pers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Módulo de Personal - Guardias y Turnos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👥 DISTRIBUCIÓN HORARIA POR PUESTOS FÍSICOS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Cuadrante de Puestos: </a:t>
            </a:r>
            <a:r>
              <a:rPr sz="1200">
                <a:solidFill>
                  <a:srgbClr val="1E293B"/>
                </a:solidFill>
                <a:latin typeface="Segoe UI"/>
              </a:rPr>
              <a:t>Asigna al personal en turnos horarios exactos en los puestos físicos configurados del recinto militar.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Gestión de Apoyos y Cuotas: </a:t>
            </a:r>
            <a:r>
              <a:rPr sz="1200">
                <a:solidFill>
                  <a:srgbClr val="1E293B"/>
                </a:solidFill>
                <a:latin typeface="Segoe UI"/>
              </a:rPr>
              <a:t>Asigna tareas de apoyo complementario que requieren cuotas específicas de dotación sin entorpecer los turnos principales.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Control Visual Rápido: </a:t>
            </a:r>
            <a:r>
              <a:rPr sz="1200">
                <a:solidFill>
                  <a:srgbClr val="1E293B"/>
                </a:solidFill>
                <a:latin typeface="Segoe UI"/>
              </a:rPr>
              <a:t>Presenta un cuadrante limpio y ordenado que facilita al Oficial de Guardia el control de las garitas y puntos de control.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Personalización Táctica: </a:t>
            </a:r>
            <a:r>
              <a:rPr sz="1200">
                <a:solidFill>
                  <a:srgbClr val="1E293B"/>
                </a:solidFill>
                <a:latin typeface="Segoe UI"/>
              </a:rPr>
              <a:t>Permite reasignar puestos o realizar cambios sobre la marcha para responder a novedades del servicio.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distribucion_pues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Módulo de Personal - Distribución por Puestos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👥 REGISTRO DE PUESTO DE MANDO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Oficiales de Guardia: </a:t>
            </a:r>
            <a:r>
              <a:rPr sz="1200">
                <a:solidFill>
                  <a:srgbClr val="1E293B"/>
                </a:solidFill>
                <a:latin typeface="Segoe UI"/>
              </a:rPr>
              <a:t>Permite registrar al personal al mando de la guardia del día, incluyendo Oficial de Guardia (ODG) y auxiliares.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Integración con Documentos: </a:t>
            </a:r>
            <a:r>
              <a:rPr sz="1200">
                <a:solidFill>
                  <a:srgbClr val="1E293B"/>
                </a:solidFill>
                <a:latin typeface="Segoe UI"/>
              </a:rPr>
              <a:t>Los oficiales registrados en el Puesto de Mando firman de forma automática los partes diarios y aprueban patrullajes.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Control Centralizado: </a:t>
            </a:r>
            <a:r>
              <a:rPr sz="1200">
                <a:solidFill>
                  <a:srgbClr val="1E293B"/>
                </a:solidFill>
                <a:latin typeface="Segoe UI"/>
              </a:rPr>
              <a:t>Establece claramente los responsables del monitoreo de incidentes y las comunicaciones durante la guardia.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puesto_ma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Módulo de Personal - Puesto de Mando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👥 OTRAS FUNCIONES Y ROLES ESPECIALES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Asignaciones Asimétricas: </a:t>
            </a:r>
            <a:r>
              <a:rPr sz="1200">
                <a:solidFill>
                  <a:srgbClr val="1E293B"/>
                </a:solidFill>
                <a:latin typeface="Segoe UI"/>
              </a:rPr>
              <a:t>Registra al personal destinado a tareas no convencionales (Rancheros, Conductores de Ambulancia, Enfermeros, etc.).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Prevención de Conflictos: </a:t>
            </a:r>
            <a:r>
              <a:rPr sz="1200">
                <a:solidFill>
                  <a:srgbClr val="1E293B"/>
                </a:solidFill>
                <a:latin typeface="Segoe UI"/>
              </a:rPr>
              <a:t>Separa a estos elementos del cuadrante regular de turnos automáticos, evitando que un marinero sea asignado a dos roles.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Visualización de Excepciones: </a:t>
            </a:r>
            <a:r>
              <a:rPr sz="1200">
                <a:solidFill>
                  <a:srgbClr val="1E293B"/>
                </a:solidFill>
                <a:latin typeface="Segoe UI"/>
              </a:rPr>
              <a:t>Muestra de forma segregada a la dotación que realiza funciones de apoyo permanente o administrativo.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otras_fun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Módulo de Personal - Roles Especiales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👥 ESTADÍSTICAS DINÁMICAS Y CAPACIDAD OPERATIVA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Indicadores KPI de Fuerza: </a:t>
            </a:r>
            <a:r>
              <a:rPr sz="1200">
                <a:solidFill>
                  <a:srgbClr val="1E293B"/>
                </a:solidFill>
                <a:latin typeface="Segoe UI"/>
              </a:rPr>
              <a:t>Muestra el total registrado, la cifra de personal operativo real y la cantidad de elementos de franco o en guardia.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Gráficos de Repartos y Grados: </a:t>
            </a:r>
            <a:r>
              <a:rPr sz="1200">
                <a:solidFill>
                  <a:srgbClr val="1E293B"/>
                </a:solidFill>
                <a:latin typeface="Segoe UI"/>
              </a:rPr>
              <a:t>Presenta gráficos apilados dinámicos con la distribución de rangos militares asignados a cada reparto de la dotación.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Chart.js Integrado: </a:t>
            </a:r>
            <a:r>
              <a:rPr sz="1200">
                <a:solidFill>
                  <a:srgbClr val="1E293B"/>
                </a:solidFill>
                <a:latin typeface="Segoe UI"/>
              </a:rPr>
              <a:t>Gráficos vectoriales e interactivos que responden al pasar el cursor, ideales para informes de personal.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Justificación de Recursos: </a:t>
            </a:r>
            <a:r>
              <a:rPr sz="1200">
                <a:solidFill>
                  <a:srgbClr val="1E293B"/>
                </a:solidFill>
                <a:latin typeface="Segoe UI"/>
              </a:rPr>
              <a:t>Genera de forma visual reportes instantáneos para justificar estados de fuerza ante los comandos superiores.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estadisticas_pers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Módulo de Personal - Estadísticas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1E3E62"/>
          </a:solidFill>
          <a:ln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0A96D"/>
                </a:solidFill>
                <a:latin typeface="Segoe UI"/>
              </a:defRPr>
            </a:pPr>
            <a:r>
              <a:t>MÓDULO DE OPERACIONES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Segoe UI"/>
              </a:defRPr>
            </a:pPr>
            <a:r>
              <a:t>Planificación Diaria, Gestión de Órdenes de Patrulla, Plantillas y Partes Oficiales</a:t>
            </a:r>
          </a:p>
        </p:txBody>
      </p:sp>
    </p:spTree>
  </p:cSld>
  <p:transition spd="med">
    <p:push dir="l"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🛡️ PLANIFICACIÓN DIARIA DE OPERACIONES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Cronograma de Eventos: </a:t>
            </a:r>
            <a:r>
              <a:rPr sz="1200">
                <a:solidFill>
                  <a:srgbClr val="1E293B"/>
                </a:solidFill>
                <a:latin typeface="Segoe UI"/>
              </a:rPr>
              <a:t>Permite planificar las actividades operacionales críticas del día con horarios, sectores y personal asignado.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Agenda del Puesto de Mando: </a:t>
            </a:r>
            <a:r>
              <a:rPr sz="1200">
                <a:solidFill>
                  <a:srgbClr val="1E293B"/>
                </a:solidFill>
                <a:latin typeface="Segoe UI"/>
              </a:rPr>
              <a:t>Mantiene al Oficial de Guardia alineado con las directrices operativas dispuestas por el mando táctico.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Trazabilidad Operacional: </a:t>
            </a:r>
            <a:r>
              <a:rPr sz="1200">
                <a:solidFill>
                  <a:srgbClr val="1E293B"/>
                </a:solidFill>
                <a:latin typeface="Segoe UI"/>
              </a:rPr>
              <a:t>Registra hitos y actividades especiales (inspecciones, visitas, adiestramientos) dentro de una única agenda integrada.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_planificacion_oper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Módulo de Operaciones - Planificación</a:t>
            </a:r>
          </a:p>
        </p:txBody>
      </p:sp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🛡️ ÓRDENES DE PATRULLA ESTANDARIZADAS - GT ECHO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Doctrina Militar: </a:t>
            </a:r>
            <a:r>
              <a:rPr sz="1200">
                <a:solidFill>
                  <a:srgbClr val="1E293B"/>
                </a:solidFill>
                <a:latin typeface="Segoe UI"/>
              </a:rPr>
              <a:t>Formulario estructurado bajo el formato formal de cinco párrafos de la Armada: Situación, Misión, Ejecución, Logística y Enlace.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Campos Autocompletados: </a:t>
            </a:r>
            <a:r>
              <a:rPr sz="1200">
                <a:solidFill>
                  <a:srgbClr val="1E293B"/>
                </a:solidFill>
                <a:latin typeface="Segoe UI"/>
              </a:rPr>
              <a:t>Pre-llena datos automáticos como Grupo de Fecha y Hora (DTG) del sistema y correlativos de órdenes anteriores.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Vínculo de Personal: </a:t>
            </a:r>
            <a:r>
              <a:rPr sz="1200">
                <a:solidFill>
                  <a:srgbClr val="1E293B"/>
                </a:solidFill>
                <a:latin typeface="Segoe UI"/>
              </a:rPr>
              <a:t>Asocia la patrulla con el Oficial de Guardia (ODG) registrado y las dotaciones en turno de la Guardia.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Diseño de Impresión Formal: </a:t>
            </a:r>
            <a:r>
              <a:rPr sz="1200">
                <a:solidFill>
                  <a:srgbClr val="1E293B"/>
                </a:solidFill>
                <a:latin typeface="Segoe UI"/>
              </a:rPr>
              <a:t>Genera el documento final en un PDF formal, incluyendo marcas de clasificación de seguridad y bloque de firmas.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ordpat_gt_ec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Módulo de Operaciones - Orden GT ECHO</a:t>
            </a:r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🛡️ ÓRDENES DE PATRULLA - GT 100.51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Personalización del Reparto: </a:t>
            </a:r>
            <a:r>
              <a:rPr sz="1200">
                <a:solidFill>
                  <a:srgbClr val="1E293B"/>
                </a:solidFill>
                <a:latin typeface="Segoe UI"/>
              </a:rPr>
              <a:t>Formato adaptado con encabezado oficial y logotipos específicos para el Grupo de Tarea 100.51 de Seguridad Marítima.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Precisión en Coordinaciones: </a:t>
            </a:r>
            <a:r>
              <a:rPr sz="1200">
                <a:solidFill>
                  <a:srgbClr val="1E293B"/>
                </a:solidFill>
                <a:latin typeface="Segoe UI"/>
              </a:rPr>
              <a:t>Secciones detalladas para coordinar frecuencias de radio, sectores de patrullaje, reglas de uso de la fuerza y enlaces.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Seguridad del Documento: </a:t>
            </a:r>
            <a:r>
              <a:rPr sz="1200">
                <a:solidFill>
                  <a:srgbClr val="1E293B"/>
                </a:solidFill>
                <a:latin typeface="Segoe UI"/>
              </a:rPr>
              <a:t>Clasificación de seguridad automática ('SECRETO' / 'CONFIDENCIAL') según las directrices operacionales.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Descarga Directa: </a:t>
            </a:r>
            <a:r>
              <a:rPr sz="1200">
                <a:solidFill>
                  <a:srgbClr val="1E293B"/>
                </a:solidFill>
                <a:latin typeface="Segoe UI"/>
              </a:rPr>
              <a:t>Permite la impresión física del documento doctrinario oficial de operaciones en tamaño A4 directamente desde el navegador.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0_ordpat_gt_100_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Módulo de Operaciones - Orden GT 100.51</a:t>
            </a:r>
          </a:p>
        </p:txBody>
      </p:sp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🛡️ GESTIÓN DE PLANTILLAS OPERACIONALES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Biblioteca de Órdenes: </a:t>
            </a:r>
            <a:r>
              <a:rPr sz="1200">
                <a:solidFill>
                  <a:srgbClr val="1E293B"/>
                </a:solidFill>
                <a:latin typeface="Segoe UI"/>
              </a:rPr>
              <a:t>Consolida un listado de todas las órdenes pre-guardadas o generadas previamente para consulta o reedición.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Clonado Eficiente de Órdenes: </a:t>
            </a:r>
            <a:r>
              <a:rPr sz="1200">
                <a:solidFill>
                  <a:srgbClr val="1E293B"/>
                </a:solidFill>
                <a:latin typeface="Segoe UI"/>
              </a:rPr>
              <a:t>Función 'Pre-llenar con la última' que recupera toda la estructura doctrinaria en 1 segundo, requiriendo solo cambiar la fecha.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Ahorro de Tiempo de Oficina: </a:t>
            </a:r>
            <a:r>
              <a:rPr sz="1200">
                <a:solidFill>
                  <a:srgbClr val="1E293B"/>
                </a:solidFill>
                <a:latin typeface="Segoe UI"/>
              </a:rPr>
              <a:t>Reduce drásticamente el tiempo de elaboración administrativa de órdenes tácticas repetitivas de 15 minutos a 30 segundos.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Control de Estados de Firma: </a:t>
            </a:r>
            <a:r>
              <a:rPr sz="1200">
                <a:solidFill>
                  <a:srgbClr val="1E293B"/>
                </a:solidFill>
                <a:latin typeface="Segoe UI"/>
              </a:rPr>
              <a:t>Muestra de forma jerárquica cuáles órdenes han sido redactadas, cuáles están aprobadas y cuáles están archivadas.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_registro_gestion_orde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Módulo de Operaciones - Plantillas</a:t>
            </a:r>
          </a:p>
        </p:txBody>
      </p:sp>
    </p:spTree>
  </p:cSld>
  <p:transition spd="med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🛡️ PARTES AL INSTANTE Y CORRESPONDENCIA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Cinta de Formato Estilo Word: </a:t>
            </a:r>
            <a:r>
              <a:rPr sz="1200">
                <a:solidFill>
                  <a:srgbClr val="1E293B"/>
                </a:solidFill>
                <a:latin typeface="Segoe UI"/>
              </a:rPr>
              <a:t>Editor de texto enriquecido integrado que permite aplicar negrita, cursiva, subrayado, tamaños y colores a los informes.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Simulación de Hoja Física A4: </a:t>
            </a:r>
            <a:r>
              <a:rPr sz="1200">
                <a:solidFill>
                  <a:srgbClr val="1E293B"/>
                </a:solidFill>
                <a:latin typeface="Segoe UI"/>
              </a:rPr>
              <a:t>Diseño en pantalla idéntico a un papel membretado impreso institucional con la clasificación en rojo 'SECRETO'.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Firma del Oficial de Guardia: </a:t>
            </a:r>
            <a:r>
              <a:rPr sz="1200">
                <a:solidFill>
                  <a:srgbClr val="1E293B"/>
                </a:solidFill>
                <a:latin typeface="Segoe UI"/>
              </a:rPr>
              <a:t>Vínculo automático del firmante de guardia registrado, permitiendo redactar partes tácticos urgentes y prolijos.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Exportación Directa a PDF: </a:t>
            </a:r>
            <a:r>
              <a:rPr sz="1200">
                <a:solidFill>
                  <a:srgbClr val="1E293B"/>
                </a:solidFill>
                <a:latin typeface="Segoe UI"/>
              </a:rPr>
              <a:t>Genera el PDF con la tipografía y el espaciado exacto estandarizado por las normas de correspondencia de la Armada.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_partes_al_insta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Módulo de Operaciones - Partes al Instante</a:t>
            </a:r>
          </a:p>
        </p:txBody>
      </p:sp>
    </p:spTree>
  </p:cSld>
  <p:transition spd="med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🛡️ REPOSITORIO DE ÓRDENES DE OPERACIÓN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Centralización de Directrices: </a:t>
            </a:r>
            <a:r>
              <a:rPr sz="1200">
                <a:solidFill>
                  <a:srgbClr val="1E293B"/>
                </a:solidFill>
                <a:latin typeface="Segoe UI"/>
              </a:rPr>
              <a:t>Permite cargar las órdenes generales de operación (OROP) y directivas emitidas por escalones superiores.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Consulta Rápida de Campo: </a:t>
            </a:r>
            <a:r>
              <a:rPr sz="1200">
                <a:solidFill>
                  <a:srgbClr val="1E293B"/>
                </a:solidFill>
                <a:latin typeface="Segoe UI"/>
              </a:rPr>
              <a:t>El personal del Puesto de Mando puede consultar en segundos las directrices operacionales vigentes para la misión.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Acceso Seguro por Roles: </a:t>
            </a:r>
            <a:r>
              <a:rPr sz="1200">
                <a:solidFill>
                  <a:srgbClr val="1E293B"/>
                </a:solidFill>
                <a:latin typeface="Segoe UI"/>
              </a:rPr>
              <a:t>Restricción de lectura para asegurar que solo oficiales autorizados visualicen directivas de alto nivel.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3_ordenes_ope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Módulo de Operaciones - Órdenes de Operación</a:t>
            </a:r>
          </a:p>
        </p:txBody>
      </p:sp>
    </p:spTree>
  </p:cSld>
  <p:transition spd="med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1E3E62"/>
          </a:solidFill>
          <a:ln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0A96D"/>
                </a:solidFill>
                <a:latin typeface="Segoe UI"/>
              </a:defRPr>
            </a:pPr>
            <a:r>
              <a:t>LOGÍSTICA E INTELIGENCIA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Segoe UI"/>
              </a:defRPr>
            </a:pPr>
            <a:r>
              <a:t>Control de Medios de Movilidad Terrestre y Análisis Geoespacial Avanzado del Delito</a:t>
            </a:r>
          </a:p>
        </p:txBody>
      </p:sp>
    </p:spTree>
  </p:cSld>
  <p:transition spd="med">
    <p:push dir="l"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📦 LOGÍSTICA: CONTROL DE FLOTA Y CONDUCTORES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Inventario de Vehículos: </a:t>
            </a:r>
            <a:r>
              <a:rPr sz="1200">
                <a:solidFill>
                  <a:srgbClr val="1E293B"/>
                </a:solidFill>
                <a:latin typeface="Segoe UI"/>
              </a:rPr>
              <a:t>Administra las unidades asignadas (camiones tácticos, camionetas de patrulla, cuadrones) ingresando placa y tipo.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Asignación de Conductores: </a:t>
            </a:r>
            <a:r>
              <a:rPr sz="1200">
                <a:solidFill>
                  <a:srgbClr val="1E293B"/>
                </a:solidFill>
                <a:latin typeface="Segoe UI"/>
              </a:rPr>
              <a:t>Vincula choferes militares específicos a cada vehículo, estableciendo la responsabilidad directa del medio.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Disponibilidad y Combustible: </a:t>
            </a:r>
            <a:r>
              <a:rPr sz="1200">
                <a:solidFill>
                  <a:srgbClr val="1E293B"/>
                </a:solidFill>
                <a:latin typeface="Segoe UI"/>
              </a:rPr>
              <a:t>Controla el estado operativo de los vehículos (Operativo / Fuera de Servicio) y registra el nivel de combustible.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Planificación Logística: </a:t>
            </a:r>
            <a:r>
              <a:rPr sz="1200">
                <a:solidFill>
                  <a:srgbClr val="1E293B"/>
                </a:solidFill>
                <a:latin typeface="Segoe UI"/>
              </a:rPr>
              <a:t>Garantiza que el Puesto de Mando asigne patrullas únicamente a medios terrestres listos y abastecidos.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4_registro_vehicu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Módulo de Logística - Vehículos</a:t>
            </a:r>
          </a:p>
        </p:txBody>
      </p:sp>
    </p:spTree>
  </p:cSld>
  <p:transition spd="med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🧠 INTELIGENCIA: ANÁLISIS GEOESPACIAL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Mapa Leaflet Interactivo: </a:t>
            </a:r>
            <a:r>
              <a:rPr sz="1200">
                <a:solidFill>
                  <a:srgbClr val="1E293B"/>
                </a:solidFill>
                <a:latin typeface="Segoe UI"/>
              </a:rPr>
              <a:t>Visualizador geográfico centrado en el área de operaciones con marcadores de delitos y cámaras de seguridad.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Herramientas de Dibujo Geográfico: </a:t>
            </a:r>
            <a:r>
              <a:rPr sz="1200">
                <a:solidFill>
                  <a:srgbClr val="1E293B"/>
                </a:solidFill>
                <a:latin typeface="Segoe UI"/>
              </a:rPr>
              <a:t>Permite dibujar polígonos (sectores de patrullaje), líneas (rutas de patrulla) y círculos (áreas de búsqueda).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Carga de Capas KMZ/KML: </a:t>
            </a:r>
            <a:r>
              <a:rPr sz="1200">
                <a:solidFill>
                  <a:srgbClr val="1E293B"/>
                </a:solidFill>
                <a:latin typeface="Segoe UI"/>
              </a:rPr>
              <a:t>Permite importar archivos KMZ de Google Earth para superponer límites distritales o áreas críticas oficiales en el mapa.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Captura de Coordenadas: </a:t>
            </a:r>
            <a:r>
              <a:rPr sz="1200">
                <a:solidFill>
                  <a:srgbClr val="1E293B"/>
                </a:solidFill>
                <a:latin typeface="Segoe UI"/>
              </a:rPr>
              <a:t>Asigna latitud y longitud exactas a cada delito con un solo clic sobre el mapa para poblar el parte del incidente.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5_inteligencia_m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Módulo de Inteligencia - Visualizador</a:t>
            </a:r>
          </a:p>
        </p:txBody>
      </p:sp>
    </p:spTree>
  </p:cSld>
  <p:transition spd="med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🧠 INTELIGENCIA: CONSOLIDADO E HISTORIAL DELICTIVO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Base de Datos delictiva: </a:t>
            </a:r>
            <a:r>
              <a:rPr sz="1200">
                <a:solidFill>
                  <a:srgbClr val="1E293B"/>
                </a:solidFill>
                <a:latin typeface="Segoe UI"/>
              </a:rPr>
              <a:t>Registro de delitos críticos: Sicariatos, Robos, Porte de Armas, Atentados, Narcotráfico y Cámaras de Seguridad.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Filtros de Búsqueda Dinámicos: </a:t>
            </a:r>
            <a:r>
              <a:rPr sz="1200">
                <a:solidFill>
                  <a:srgbClr val="1E293B"/>
                </a:solidFill>
                <a:latin typeface="Segoe UI"/>
              </a:rPr>
              <a:t>Permite filtrar de inmediato toda la tabla por Tipo de Delito o Distrito (SUR, ESTEROS, 9 DE OCTUBRE, MODELO).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Exportaciones a Excel/PDF: </a:t>
            </a:r>
            <a:r>
              <a:rPr sz="1200">
                <a:solidFill>
                  <a:srgbClr val="1E293B"/>
                </a:solidFill>
                <a:latin typeface="Segoe UI"/>
              </a:rPr>
              <a:t>Permite descargar el historial completo de incidentes directamente para análisis o auditorías externas.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Edición y Eliminación: </a:t>
            </a:r>
            <a:r>
              <a:rPr sz="1200">
                <a:solidFill>
                  <a:srgbClr val="1E293B"/>
                </a:solidFill>
                <a:latin typeface="Segoe UI"/>
              </a:rPr>
              <a:t>Control completo sobre cada registro de incidente para corregir descripciones o coordenadas erróneas.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6_inteligencia_tab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Módulo de Inteligencia - Tabla de Incidentes</a:t>
            </a:r>
          </a:p>
        </p:txBody>
      </p:sp>
    </p:spTree>
  </p:cSld>
  <p:transition spd="med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🧠 INTELIGENCIA: INFOGRAFÍA ESTRATÉGICA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KPIs Ejecutivos de Seguridad: </a:t>
            </a:r>
            <a:r>
              <a:rPr sz="1200">
                <a:solidFill>
                  <a:srgbClr val="1E293B"/>
                </a:solidFill>
                <a:latin typeface="Segoe UI"/>
              </a:rPr>
              <a:t>Indicadores de alto nivel: Total de incidentes, delito predominante, provincia crítica y horario de mayor riesgo.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Cuatro Gráficos Analíticos: </a:t>
            </a:r>
            <a:r>
              <a:rPr sz="1200">
                <a:solidFill>
                  <a:srgbClr val="1E293B"/>
                </a:solidFill>
                <a:latin typeface="Segoe UI"/>
              </a:rPr>
              <a:t>Desglose visual interactivo por provincia (barras), por ciudad (barras), tipología delictiva (pie) y tendencia temporal.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Semáforos de Alerta Territorial: </a:t>
            </a:r>
            <a:r>
              <a:rPr sz="1200">
                <a:solidFill>
                  <a:srgbClr val="1E293B"/>
                </a:solidFill>
                <a:latin typeface="Segoe UI"/>
              </a:rPr>
              <a:t>Clasifica automáticamente las zonas en alertas Roja, Amarilla o Verde según su nivel de delincuencia.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Exportación de Infografía: </a:t>
            </a:r>
            <a:r>
              <a:rPr sz="1200">
                <a:solidFill>
                  <a:srgbClr val="1E293B"/>
                </a:solidFill>
                <a:latin typeface="Segoe UI"/>
              </a:rPr>
              <a:t>Botón rápido para compilar el informe infográfico dinámico en una presentación PDF lista para el Comandante.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_inteligencia_infograf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Módulo de Inteligencia - Infografía</a:t>
            </a:r>
          </a:p>
        </p:txBody>
      </p:sp>
    </p:spTree>
  </p:cSld>
  <p:transition spd="med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1E3E62"/>
          </a:solidFill>
          <a:ln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0A96D"/>
                </a:solidFill>
                <a:latin typeface="Segoe UI"/>
              </a:defRPr>
            </a:pPr>
            <a:r>
              <a:t>HISTÓRICOS Y GESTIÓN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Segoe UI"/>
              </a:defRPr>
            </a:pPr>
            <a:r>
              <a:t>Trazabilidad, Resguardo de Datos, Seguridad RBAC y Bitácora de Auditoría</a:t>
            </a:r>
          </a:p>
        </p:txBody>
      </p:sp>
    </p:spTree>
  </p:cSld>
  <p:transition spd="med">
    <p:push dir="l"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📜 HISTÓRICOS: REGISTROS HISTÓRICOS Y TRAZABILIDAD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Archivo de Órdenes de Patrulla: </a:t>
            </a:r>
            <a:r>
              <a:rPr sz="1200">
                <a:solidFill>
                  <a:srgbClr val="1E293B"/>
                </a:solidFill>
                <a:latin typeface="Segoe UI"/>
              </a:rPr>
              <a:t>Historial de todas las órdenes emitidas, con filtros para revisar directivas ejecutadas en fechas anteriores.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Partes del Instante Históricos: </a:t>
            </a:r>
            <a:r>
              <a:rPr sz="1200">
                <a:solidFill>
                  <a:srgbClr val="1E293B"/>
                </a:solidFill>
                <a:latin typeface="Segoe UI"/>
              </a:rPr>
              <a:t>Resguardo de todos los reportes de guardia firmados digitalmente para auditorías operacionales.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Reportes de Días OMAI: </a:t>
            </a:r>
            <a:r>
              <a:rPr sz="1200">
                <a:solidFill>
                  <a:srgbClr val="1E293B"/>
                </a:solidFill>
                <a:latin typeface="Segoe UI"/>
              </a:rPr>
              <a:t>Consolida las actividades tácticas diarias completadas para evaluar el cumplimiento de metas y justificar patrullajes.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Búsqueda Avanzada: </a:t>
            </a:r>
            <a:r>
              <a:rPr sz="1200">
                <a:solidFill>
                  <a:srgbClr val="1E293B"/>
                </a:solidFill>
                <a:latin typeface="Segoe UI"/>
              </a:rPr>
              <a:t>Buscador integrado para ubicar órdenes pasadas por correlativo, fecha o responsable del mando.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8_historico_orde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Registros Históricos</a:t>
            </a:r>
          </a:p>
        </p:txBody>
      </p:sp>
    </p:spTree>
  </p:cSld>
  <p:transition spd="med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🔐 ADMINISTRACIÓN: ROLES Y CONTROL DE ACCESO (RBAC)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Perfiles Diferenciados: </a:t>
            </a:r>
            <a:r>
              <a:rPr sz="1200">
                <a:solidFill>
                  <a:srgbClr val="1E293B"/>
                </a:solidFill>
                <a:latin typeface="Segoe UI"/>
              </a:rPr>
              <a:t>Controles de seguridad adaptados para ADMINISTRADOR, JEFE OMAI, PERSONAL, LOGÍSTICA, INTELIGENCIA y CMDTE GT 51.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Gestión de Claves Centralizada: </a:t>
            </a:r>
            <a:r>
              <a:rPr sz="1200">
                <a:solidFill>
                  <a:srgbClr val="1E293B"/>
                </a:solidFill>
                <a:latin typeface="Segoe UI"/>
              </a:rPr>
              <a:t>El rol de Administrador dispone de una consola para ver, editar y redefinir contraseñas de todos los perfiles.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Seguridad de la Información: </a:t>
            </a:r>
            <a:r>
              <a:rPr sz="1200">
                <a:solidFill>
                  <a:srgbClr val="1E293B"/>
                </a:solidFill>
                <a:latin typeface="Segoe UI"/>
              </a:rPr>
              <a:t>Garantiza que solo personal autorizado modifique listados de personal o acceda a la infografía criminal.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Clave Maestra de Purga: </a:t>
            </a:r>
            <a:r>
              <a:rPr sz="1200">
                <a:solidFill>
                  <a:srgbClr val="1E293B"/>
                </a:solidFill>
                <a:latin typeface="Segoe UI"/>
              </a:rPr>
              <a:t>Configuración de una contraseña especial de seguridad para proteger acciones destructivas de base de datos.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0_admin_cla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Administración - Roles y Claves</a:t>
            </a:r>
          </a:p>
        </p:txBody>
      </p:sp>
    </p:spTree>
  </p:cSld>
  <p:transition spd="med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🔐 ADMINISTRACIÓN: CONSOLA DE GESTIÓN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Respaldos Rápidos: </a:t>
            </a:r>
            <a:r>
              <a:rPr sz="1200">
                <a:solidFill>
                  <a:srgbClr val="1E293B"/>
                </a:solidFill>
                <a:latin typeface="Segoe UI"/>
              </a:rPr>
              <a:t>Mecanismo ágil para descargar la base de datos local SQLite y resguardar la información ante fallos de hardware.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Importación de Respaldos: </a:t>
            </a:r>
            <a:r>
              <a:rPr sz="1200">
                <a:solidFill>
                  <a:srgbClr val="1E293B"/>
                </a:solidFill>
                <a:latin typeface="Segoe UI"/>
              </a:rPr>
              <a:t>Permite subir una base de datos anterior para restaurar el sistema en un equipo nuevo en segundos.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Purga Segura de Datos: </a:t>
            </a:r>
            <a:r>
              <a:rPr sz="1200">
                <a:solidFill>
                  <a:srgbClr val="1E293B"/>
                </a:solidFill>
                <a:latin typeface="Segoe UI"/>
              </a:rPr>
              <a:t>Elimina datos de personal, vehículos o delitos con protección de clave maestra para evitar borrados accidentales.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Modificaciones de Estructura: </a:t>
            </a:r>
            <a:r>
              <a:rPr sz="1200">
                <a:solidFill>
                  <a:srgbClr val="1E293B"/>
                </a:solidFill>
                <a:latin typeface="Segoe UI"/>
              </a:rPr>
              <a:t>Permite realizar nuevas cargas de personal y archivar automáticamente la dotación actual en el histórico.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1_admin_d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Administración - Base de Datos</a:t>
            </a:r>
          </a:p>
        </p:txBody>
      </p:sp>
    </p:spTree>
  </p:cSld>
  <p:transition spd="med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🔐 ADMINISTRACIÓN: BITÁCORA DE ACTIVIDAD Y AUDITORÍA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Auditoría en Tiempo Real (Logs): </a:t>
            </a:r>
            <a:r>
              <a:rPr sz="1200">
                <a:solidFill>
                  <a:srgbClr val="1E293B"/>
                </a:solidFill>
                <a:latin typeface="Segoe UI"/>
              </a:rPr>
              <a:t>Registra cada acción efectuada en la plataforma, indicando el usuario/rol, la acción detallada y la hora exacta.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Monitoreo de Terminales Activas: </a:t>
            </a:r>
            <a:r>
              <a:rPr sz="1200">
                <a:solidFill>
                  <a:srgbClr val="1E293B"/>
                </a:solidFill>
                <a:latin typeface="Segoe UI"/>
              </a:rPr>
              <a:t>Identifica las computadoras conectadas al servidor en la red local LAN, mostrando su IP y hora de conexión.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Transparencia Operativa: </a:t>
            </a:r>
            <a:r>
              <a:rPr sz="1200">
                <a:solidFill>
                  <a:srgbClr val="1E293B"/>
                </a:solidFill>
                <a:latin typeface="Segoe UI"/>
              </a:rPr>
              <a:t>Garantiza el control total de los datos al poder auditar quién generó una orden, quién modificó un delito o quién limpió tablas.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Resiliencia de Conexión: </a:t>
            </a:r>
            <a:r>
              <a:rPr sz="1200">
                <a:solidFill>
                  <a:srgbClr val="1E293B"/>
                </a:solidFill>
                <a:latin typeface="Segoe UI"/>
              </a:rPr>
              <a:t>Monitorea constantemente la conexión con la base de datos SQLite y muestra alertas visuales ante desconexiones.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2_admin_activ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Administración - Auditoría de Logs</a:t>
            </a:r>
          </a:p>
        </p:txBody>
      </p:sp>
    </p:spTree>
  </p:cSld>
  <p:transition spd="med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92C"/>
          </a:solidFill>
          <a:ln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defRPr sz="2800" b="1">
                <a:solidFill>
                  <a:srgbClr val="E0A96D"/>
                </a:solidFill>
                <a:latin typeface="Segoe UI"/>
              </a:defRPr>
            </a:pPr>
            <a:r>
              <a:t>ℹ️ RESUMEN DE BENEFICIOS DEL SISTEMA OMAI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E0A96D"/>
          </a:solidFill>
          <a:ln>
            <a:solidFill>
              <a:srgbClr val="E0A9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120640" cy="4846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Agilidad en Toma de Decisiones: </a:t>
            </a:r>
            <a:r>
              <a:rPr sz="1200">
                <a:solidFill>
                  <a:srgbClr val="1E293B"/>
                </a:solidFill>
                <a:latin typeface="Segoe UI"/>
              </a:rPr>
              <a:t>Permite a los comandantes visualizar datos tácticos de forma geográfica e infográfica en tiempo real.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Estandarización y Calidad: </a:t>
            </a:r>
            <a:r>
              <a:rPr sz="1200">
                <a:solidFill>
                  <a:srgbClr val="1E293B"/>
                </a:solidFill>
                <a:latin typeface="Segoe UI"/>
              </a:rPr>
              <a:t>Garantiza que la correspondencia, partes y órdenes sigan estrictamente las normas doctrinarias de la Armada del Ecuador.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Ahorro de Tiempo Administrativo: </a:t>
            </a:r>
            <a:r>
              <a:rPr sz="1200">
                <a:solidFill>
                  <a:srgbClr val="1E293B"/>
                </a:solidFill>
                <a:latin typeface="Segoe UI"/>
              </a:rPr>
              <a:t>La importación Excel, la clonación de órdenes y la distribución automatizada liberan al personal de tareas burocráticas.</a:t>
            </a:r>
          </a:p>
          <a:p>
            <a:pPr>
              <a:lnSpc>
                <a:spcPct val="115000"/>
              </a:lnSpc>
              <a:spcBef>
                <a:spcPts val="800"/>
              </a:spcBef>
              <a:spcAft>
                <a:spcPts val="400"/>
              </a:spcAft>
            </a:pPr>
            <a:r>
              <a:rPr sz="1400" b="1">
                <a:solidFill>
                  <a:srgbClr val="1E3E62"/>
                </a:solidFill>
                <a:latin typeface="Segoe UI"/>
              </a:rPr>
              <a:t>• Seguridad y Autonomía: </a:t>
            </a:r>
            <a:r>
              <a:rPr sz="1200">
                <a:solidFill>
                  <a:srgbClr val="1E293B"/>
                </a:solidFill>
                <a:latin typeface="Segoe UI"/>
              </a:rPr>
              <a:t>Su diseño offline-first y base de datos local protegen la información en áreas remotas o sin acceso a Internet.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89320" y="1325880"/>
            <a:ext cx="5669280" cy="4389120"/>
          </a:xfrm>
          <a:prstGeom prst="rect">
            <a:avLst/>
          </a:prstGeom>
          <a:solidFill>
            <a:srgbClr val="DCE0E6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3_acerca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280160"/>
            <a:ext cx="566928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280160"/>
            <a:ext cx="5669280" cy="4389120"/>
          </a:xfrm>
          <a:prstGeom prst="rect">
            <a:avLst/>
          </a:prstGeom>
          <a:noFill/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4748B"/>
                </a:solidFill>
                <a:latin typeface="Segoe UI"/>
              </a:defRPr>
            </a:pPr>
            <a:r>
              <a:t>SISTEMA OMAI - GT 100.51 | Conclusiones y Autoría</a:t>
            </a:r>
          </a:p>
        </p:txBody>
      </p:sp>
    </p:spTree>
  </p:cSld>
  <p:transition spd="med">
    <p:zoom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